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9EF8"/>
    <a:srgbClr val="9382F6"/>
    <a:srgbClr val="E9D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4BDB3-C8DC-4923-90C4-789EB2CCE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5E56F-4354-45A1-9898-25BD61F86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958D-7028-479C-97D7-F2F5F500E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E4DF9-7263-41C0-A2AC-659DA37A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B5667-CA17-4C9C-B15B-B69B5A37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5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FD6A-4EC8-4320-AA1F-418A46AA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7B174-9839-4FC3-9274-DB6121AE5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504A8-A3B7-46B0-AD35-D8881F66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894A5-5DD7-4849-9355-94AFD93C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55977-52D4-4671-A9DB-B9E1DDDA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9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BA40-678A-4A87-8A25-76F074C4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A1095-5659-4010-AA19-94C519F9F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88303-5807-4645-B761-E7C0A85A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CEA7-749A-4587-8AAE-0112BD12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52F4B-53DC-4288-9979-BD064D1C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EB22-13DC-4093-AA8C-392B771E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3B4E0-AFD8-4B94-8B43-15BF0EB82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01956-D467-436E-9F2A-63EAD4D9B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39540-59BC-4827-9C88-549D7360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FA363-CADF-4738-AB3C-EA24809E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3FC7B-6C73-4E80-AB1B-FF3D74047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5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6666-D1EC-4FF6-9BA2-E18747E6C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5D2E8-BFF4-48E3-A109-738494DF2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D598A-9736-4B13-8D83-AAEC3C6EE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A7C94-473E-4768-8040-E687D5C2D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4CA51-988F-419E-BF3E-92BCB7D1A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C61D1-E6F2-4471-9477-1005AB22E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E546E-29B8-43BA-BABC-13F5D3E6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7DD31-9D14-45BF-8ABD-C8A7DC33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08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2D64-5B37-4FA6-8BAE-BB98B097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5E45D-7284-4295-8164-9034795D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A1D54-4E43-4A11-A8DF-CD682D48D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EA68F-0AD9-42E6-9A9B-23842130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39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2B86BF-70AC-446B-AA30-F64F3CBB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9AA947-1E5E-491A-9F8B-D63D088FB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47FF0-5F40-4FB8-B02E-AD0BCFD5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01F1-052A-4255-B3F6-9415ED386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32DC0-C9E1-4B35-8DCB-DB1C30D17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91EEF-617A-4919-9C87-8501D2D62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2298B-BC87-4C61-B593-E093D55B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35110-BDF7-419E-9AE4-6435D717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B876B-CB7C-4503-AF85-C7497AA9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5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CFD5-7D39-4874-B823-653FA9824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8C19BD-A4B2-4E17-AD5A-A8C1184E2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0760A-7B32-44FD-9095-FB2392DEA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551ED-69FA-4B89-ABD4-F80379FE2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96D07-744A-490A-B41C-0913670D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B9E19-3FFA-4B29-8661-826160A9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3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273C-BAC1-4F62-9DCA-2FE5CAA0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E3A47-BF41-4B62-9342-994C674F0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65E28-2346-4C1A-8485-276C4E123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2B6F5-3AFF-4AAB-9AA7-DADE9255E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99324-B638-4C2F-9BC4-BAEB71AAF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1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F72A8-6832-4B7E-BF73-00439C48B2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166D5-D45E-4D63-80CD-6705299ED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1006C-6CA2-4DA4-93C4-1C8AF6F4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E0BA6-713F-4E58-A17F-BAC21AB3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7F5EE-B8D0-4858-B4E1-4598EBFE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2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81D16-07A0-4219-AACE-69547E19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FA565-DF96-403A-A33F-63D9207EC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19B83-9A15-4593-80A3-49A2025F9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A885-4D69-40ED-BB55-6EFEC0A5BBF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9B3F3-460E-4BA3-8398-4ABD28057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CDA28-B638-49EE-A4E2-4E6EE0935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72C98-5F6F-43B4-B0E7-8A683F1B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7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E4B1DF8B-7A8E-4F22-B850-EBD8B5777360}"/>
              </a:ext>
            </a:extLst>
          </p:cNvPr>
          <p:cNvSpPr/>
          <p:nvPr/>
        </p:nvSpPr>
        <p:spPr>
          <a:xfrm>
            <a:off x="516724" y="2936327"/>
            <a:ext cx="882869" cy="985345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792E0A-648F-40EC-B6CD-639EA1EEF3A6}"/>
              </a:ext>
            </a:extLst>
          </p:cNvPr>
          <p:cNvGrpSpPr/>
          <p:nvPr/>
        </p:nvGrpSpPr>
        <p:grpSpPr>
          <a:xfrm>
            <a:off x="1838197" y="2605740"/>
            <a:ext cx="1491258" cy="1646516"/>
            <a:chOff x="2637691" y="1389184"/>
            <a:chExt cx="1969478" cy="174087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F386E6-1A10-4E06-9E31-D5453496DA32}"/>
                </a:ext>
              </a:extLst>
            </p:cNvPr>
            <p:cNvSpPr/>
            <p:nvPr/>
          </p:nvSpPr>
          <p:spPr>
            <a:xfrm>
              <a:off x="2637692" y="1389185"/>
              <a:ext cx="1969477" cy="17408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Imputation</a:t>
              </a:r>
            </a:p>
            <a:p>
              <a:pPr algn="ctr"/>
              <a:r>
                <a:rPr lang="en-US" sz="1400">
                  <a:solidFill>
                    <a:schemeClr val="tx1"/>
                  </a:solidFill>
                </a:rPr>
                <a:t>Log Transform</a:t>
              </a:r>
            </a:p>
            <a:p>
              <a:pPr algn="ctr"/>
              <a:r>
                <a:rPr lang="en-US" sz="1400">
                  <a:solidFill>
                    <a:schemeClr val="tx1"/>
                  </a:solidFill>
                </a:rPr>
                <a:t>Drop Columns</a:t>
              </a: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0A19F8-9CAF-4E11-A73C-8A4536C9DE3C}"/>
                </a:ext>
              </a:extLst>
            </p:cNvPr>
            <p:cNvSpPr/>
            <p:nvPr/>
          </p:nvSpPr>
          <p:spPr>
            <a:xfrm>
              <a:off x="2637691" y="1389184"/>
              <a:ext cx="1969477" cy="67521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 Preprocssing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78C93F-15DB-4093-8AD7-24077009B045}"/>
              </a:ext>
            </a:extLst>
          </p:cNvPr>
          <p:cNvCxnSpPr>
            <a:stCxn id="4" idx="4"/>
            <a:endCxn id="7" idx="1"/>
          </p:cNvCxnSpPr>
          <p:nvPr/>
        </p:nvCxnSpPr>
        <p:spPr>
          <a:xfrm flipV="1">
            <a:off x="1399593" y="3428999"/>
            <a:ext cx="43860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3E7C33-F648-4573-8A59-110AD379BFCC}"/>
              </a:ext>
            </a:extLst>
          </p:cNvPr>
          <p:cNvGrpSpPr/>
          <p:nvPr/>
        </p:nvGrpSpPr>
        <p:grpSpPr>
          <a:xfrm>
            <a:off x="3768058" y="2392602"/>
            <a:ext cx="1324710" cy="2072792"/>
            <a:chOff x="2637692" y="1389184"/>
            <a:chExt cx="1969477" cy="174087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152E36-AEF6-43B4-9C21-412C774AFEF7}"/>
                </a:ext>
              </a:extLst>
            </p:cNvPr>
            <p:cNvSpPr/>
            <p:nvPr/>
          </p:nvSpPr>
          <p:spPr>
            <a:xfrm>
              <a:off x="2637692" y="1389185"/>
              <a:ext cx="1969477" cy="17408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cs typeface="Times New Roman" panose="02020603050405020304" pitchFamily="18" charset="0"/>
                </a:rPr>
                <a:t>Artist Freq</a:t>
              </a:r>
            </a:p>
            <a:p>
              <a:pPr algn="ctr"/>
              <a:r>
                <a:rPr lang="en-US" sz="1400">
                  <a:solidFill>
                    <a:schemeClr val="tx1"/>
                  </a:solidFill>
                  <a:cs typeface="Times New Roman" panose="02020603050405020304" pitchFamily="18" charset="0"/>
                </a:rPr>
                <a:t>Speech Cat</a:t>
              </a:r>
            </a:p>
            <a:p>
              <a:pPr algn="ctr"/>
              <a:r>
                <a:rPr lang="en-US" sz="1400">
                  <a:solidFill>
                    <a:schemeClr val="tx1"/>
                  </a:solidFill>
                  <a:cs typeface="Times New Roman" panose="02020603050405020304" pitchFamily="18" charset="0"/>
                </a:rPr>
                <a:t>Is Live</a:t>
              </a:r>
            </a:p>
            <a:p>
              <a:pPr algn="ctr"/>
              <a:r>
                <a:rPr lang="en-US" sz="1400">
                  <a:solidFill>
                    <a:schemeClr val="tx1"/>
                  </a:solidFill>
                  <a:cs typeface="Times New Roman" panose="02020603050405020304" pitchFamily="18" charset="0"/>
                </a:rPr>
                <a:t>Is Instrumenta</a:t>
              </a:r>
            </a:p>
            <a:p>
              <a:pPr algn="ctr"/>
              <a:r>
                <a:rPr lang="en-US" sz="1400">
                  <a:solidFill>
                    <a:schemeClr val="tx1"/>
                  </a:solidFill>
                  <a:cs typeface="Times New Roman" panose="02020603050405020304" pitchFamily="18" charset="0"/>
                </a:rPr>
                <a:t>Popularity Bin</a:t>
              </a:r>
            </a:p>
            <a:p>
              <a:pPr algn="ctr"/>
              <a:endParaRPr lang="en-US" sz="14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A3A4DD-3A79-4F8B-BFC2-0B68D7FC25C2}"/>
                </a:ext>
              </a:extLst>
            </p:cNvPr>
            <p:cNvSpPr/>
            <p:nvPr/>
          </p:nvSpPr>
          <p:spPr>
            <a:xfrm>
              <a:off x="2637692" y="1389184"/>
              <a:ext cx="1969477" cy="56650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cs typeface="Times New Roman" panose="02020603050405020304" pitchFamily="18" charset="0"/>
                </a:rPr>
                <a:t>Feature Engineering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DC95C1-DCD2-4AC6-A2B2-402AE708A662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3329455" y="3428999"/>
            <a:ext cx="43860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E5BA8CB-B449-4F8C-80D1-D36CBDDA4F13}"/>
              </a:ext>
            </a:extLst>
          </p:cNvPr>
          <p:cNvSpPr/>
          <p:nvPr/>
        </p:nvSpPr>
        <p:spPr>
          <a:xfrm>
            <a:off x="5531371" y="874832"/>
            <a:ext cx="1324710" cy="5108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Level 0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Base Leaners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554397-14B4-4BE6-B375-A3AFCD17EEF9}"/>
              </a:ext>
            </a:extLst>
          </p:cNvPr>
          <p:cNvGrpSpPr/>
          <p:nvPr/>
        </p:nvGrpSpPr>
        <p:grpSpPr>
          <a:xfrm>
            <a:off x="7294684" y="2858044"/>
            <a:ext cx="1763314" cy="1141905"/>
            <a:chOff x="2637692" y="1389184"/>
            <a:chExt cx="1969477" cy="174087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7056846-F1DC-4670-A171-1AB41F85BB5D}"/>
                </a:ext>
              </a:extLst>
            </p:cNvPr>
            <p:cNvSpPr/>
            <p:nvPr/>
          </p:nvSpPr>
          <p:spPr>
            <a:xfrm>
              <a:off x="2637692" y="1389185"/>
              <a:ext cx="1969477" cy="1740877"/>
            </a:xfrm>
            <a:prstGeom prst="rect">
              <a:avLst/>
            </a:prstGeom>
            <a:solidFill>
              <a:srgbClr val="E9D7F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cs typeface="Times New Roman" panose="02020603050405020304" pitchFamily="18" charset="0"/>
                </a:rPr>
                <a:t>Logistic Regression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E75EA87-3511-4AFF-A80D-28D3E231D068}"/>
                </a:ext>
              </a:extLst>
            </p:cNvPr>
            <p:cNvSpPr/>
            <p:nvPr/>
          </p:nvSpPr>
          <p:spPr>
            <a:xfrm>
              <a:off x="2637692" y="1389184"/>
              <a:ext cx="1969477" cy="1028315"/>
            </a:xfrm>
            <a:prstGeom prst="rect">
              <a:avLst/>
            </a:prstGeom>
            <a:solidFill>
              <a:srgbClr val="AB9E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cs typeface="Times New Roman" panose="02020603050405020304" pitchFamily="18" charset="0"/>
                </a:rPr>
                <a:t>Level 1</a:t>
              </a:r>
            </a:p>
            <a:p>
              <a:pPr algn="ctr"/>
              <a:r>
                <a:rPr lang="en-US" b="1">
                  <a:solidFill>
                    <a:schemeClr val="tx1"/>
                  </a:solidFill>
                  <a:cs typeface="Times New Roman" panose="02020603050405020304" pitchFamily="18" charset="0"/>
                </a:rPr>
                <a:t>Meta-Leaner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822A6667-FC0F-41C0-A36E-AC7603DBCE10}"/>
              </a:ext>
            </a:extLst>
          </p:cNvPr>
          <p:cNvSpPr/>
          <p:nvPr/>
        </p:nvSpPr>
        <p:spPr>
          <a:xfrm>
            <a:off x="9496601" y="2897186"/>
            <a:ext cx="2381807" cy="106362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Final Prediction</a:t>
            </a:r>
          </a:p>
          <a:p>
            <a:pPr algn="ctr"/>
            <a:r>
              <a:rPr lang="en-US" sz="1400">
                <a:solidFill>
                  <a:schemeClr val="tx1"/>
                </a:solidFill>
              </a:rPr>
              <a:t>Music Genre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E3C29E-1F45-4B15-88FC-27946B04E382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9057998" y="3428997"/>
            <a:ext cx="438603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91316BC-D2AF-49A5-983C-394CA88FC749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092768" y="3428997"/>
            <a:ext cx="64860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FA0051-5AA3-4D9E-9BFD-0870629881F1}"/>
              </a:ext>
            </a:extLst>
          </p:cNvPr>
          <p:cNvCxnSpPr>
            <a:cxnSpLocks/>
          </p:cNvCxnSpPr>
          <p:nvPr/>
        </p:nvCxnSpPr>
        <p:spPr>
          <a:xfrm>
            <a:off x="6699738" y="3437788"/>
            <a:ext cx="59494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4BB817F-BCC5-45DF-BF48-BCEBF6474DB6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092768" y="2243131"/>
            <a:ext cx="648609" cy="11858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9495FE-6A03-4D45-96FA-37E271D9D250}"/>
              </a:ext>
            </a:extLst>
          </p:cNvPr>
          <p:cNvCxnSpPr>
            <a:cxnSpLocks/>
          </p:cNvCxnSpPr>
          <p:nvPr/>
        </p:nvCxnSpPr>
        <p:spPr>
          <a:xfrm flipV="1">
            <a:off x="5092768" y="1206736"/>
            <a:ext cx="648609" cy="22222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0BCE337-5E0A-4F2D-A9D0-3F3709EA2713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092768" y="3428999"/>
            <a:ext cx="648609" cy="11858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23934F-65AA-45D2-8AF5-9F3965FEB3F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092768" y="3428999"/>
            <a:ext cx="648609" cy="22184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284751-C4FA-405F-B934-D69280BA7B0C}"/>
              </a:ext>
            </a:extLst>
          </p:cNvPr>
          <p:cNvCxnSpPr>
            <a:cxnSpLocks/>
          </p:cNvCxnSpPr>
          <p:nvPr/>
        </p:nvCxnSpPr>
        <p:spPr>
          <a:xfrm>
            <a:off x="6593826" y="1219376"/>
            <a:ext cx="700858" cy="22184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F4373DD-FBCC-4FAE-9CC8-F0993F009405}"/>
              </a:ext>
            </a:extLst>
          </p:cNvPr>
          <p:cNvCxnSpPr>
            <a:cxnSpLocks/>
          </p:cNvCxnSpPr>
          <p:nvPr/>
        </p:nvCxnSpPr>
        <p:spPr>
          <a:xfrm>
            <a:off x="6593826" y="2243133"/>
            <a:ext cx="700858" cy="11946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36FE5FF-5E12-41EB-BFC1-A31F801B51DE}"/>
              </a:ext>
            </a:extLst>
          </p:cNvPr>
          <p:cNvCxnSpPr>
            <a:cxnSpLocks/>
          </p:cNvCxnSpPr>
          <p:nvPr/>
        </p:nvCxnSpPr>
        <p:spPr>
          <a:xfrm flipV="1">
            <a:off x="6646075" y="3428997"/>
            <a:ext cx="648609" cy="12021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81FB81C-39A8-4E0D-B800-346DFEE80D14}"/>
              </a:ext>
            </a:extLst>
          </p:cNvPr>
          <p:cNvCxnSpPr>
            <a:cxnSpLocks/>
          </p:cNvCxnSpPr>
          <p:nvPr/>
        </p:nvCxnSpPr>
        <p:spPr>
          <a:xfrm flipV="1">
            <a:off x="6593826" y="3420212"/>
            <a:ext cx="700858" cy="2239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62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34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Tuấn Phạm</dc:creator>
  <cp:lastModifiedBy>Tuấn Phạm</cp:lastModifiedBy>
  <cp:revision>5</cp:revision>
  <dcterms:created xsi:type="dcterms:W3CDTF">2025-12-02T12:13:27Z</dcterms:created>
  <dcterms:modified xsi:type="dcterms:W3CDTF">2025-12-02T12:49:59Z</dcterms:modified>
</cp:coreProperties>
</file>